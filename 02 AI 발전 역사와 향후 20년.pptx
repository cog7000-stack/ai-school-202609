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embeddedFontLst>
    <p:embeddedFont>
      <p:font typeface="Inter" panose="020B0604020202020204" charset="0"/>
      <p:regular r:id="rId26"/>
    </p:embeddedFont>
    <p:embeddedFont>
      <p:font typeface="Inter Bold" panose="020B0604020202020204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7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h-Gyu Kwon" userId="9276bb344a1d1463" providerId="LiveId" clId="{12408E74-8F22-4F26-A06D-8F16E9C02D28}"/>
    <pc:docChg chg="undo custSel modSld">
      <pc:chgData name="Oh-Gyu Kwon" userId="9276bb344a1d1463" providerId="LiveId" clId="{12408E74-8F22-4F26-A06D-8F16E9C02D28}" dt="2026-09-03T10:18:16.176" v="175" actId="14100"/>
      <pc:docMkLst>
        <pc:docMk/>
      </pc:docMkLst>
      <pc:sldChg chg="modSp mod">
        <pc:chgData name="Oh-Gyu Kwon" userId="9276bb344a1d1463" providerId="LiveId" clId="{12408E74-8F22-4F26-A06D-8F16E9C02D28}" dt="2026-09-03T10:11:36.793" v="41" actId="1076"/>
        <pc:sldMkLst>
          <pc:docMk/>
          <pc:sldMk cId="0" sldId="264"/>
        </pc:sldMkLst>
        <pc:spChg chg="mod">
          <ac:chgData name="Oh-Gyu Kwon" userId="9276bb344a1d1463" providerId="LiveId" clId="{12408E74-8F22-4F26-A06D-8F16E9C02D28}" dt="2026-09-03T10:10:51.450" v="12" actId="403"/>
          <ac:spMkLst>
            <pc:docMk/>
            <pc:sldMk cId="0" sldId="264"/>
            <ac:spMk id="2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1:24.472" v="38" actId="10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1:36.793" v="41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1:24.472" v="38" actId="1036"/>
          <ac:spMkLst>
            <pc:docMk/>
            <pc:sldMk cId="0" sldId="264"/>
            <ac:spMk id="5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1:36.793" v="41" actId="1076"/>
          <ac:spMkLst>
            <pc:docMk/>
            <pc:sldMk cId="0" sldId="264"/>
            <ac:spMk id="6" creationId="{00000000-0000-0000-0000-000000000000}"/>
          </ac:spMkLst>
        </pc:spChg>
        <pc:picChg chg="mod">
          <ac:chgData name="Oh-Gyu Kwon" userId="9276bb344a1d1463" providerId="LiveId" clId="{12408E74-8F22-4F26-A06D-8F16E9C02D28}" dt="2026-09-03T10:11:18.937" v="23" actId="1076"/>
          <ac:picMkLst>
            <pc:docMk/>
            <pc:sldMk cId="0" sldId="264"/>
            <ac:picMk id="7" creationId="{00000000-0000-0000-0000-000000000000}"/>
          </ac:picMkLst>
        </pc:picChg>
      </pc:sldChg>
      <pc:sldChg chg="delSp modSp mod">
        <pc:chgData name="Oh-Gyu Kwon" userId="9276bb344a1d1463" providerId="LiveId" clId="{12408E74-8F22-4F26-A06D-8F16E9C02D28}" dt="2026-09-03T10:13:19.019" v="75" actId="1076"/>
        <pc:sldMkLst>
          <pc:docMk/>
          <pc:sldMk cId="0" sldId="266"/>
        </pc:sldMkLst>
        <pc:spChg chg="mod">
          <ac:chgData name="Oh-Gyu Kwon" userId="9276bb344a1d1463" providerId="LiveId" clId="{12408E74-8F22-4F26-A06D-8F16E9C02D28}" dt="2026-09-03T10:11:51.438" v="46" actId="403"/>
          <ac:spMkLst>
            <pc:docMk/>
            <pc:sldMk cId="0" sldId="266"/>
            <ac:spMk id="2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2:41.638" v="64" actId="14100"/>
          <ac:spMkLst>
            <pc:docMk/>
            <pc:sldMk cId="0" sldId="266"/>
            <ac:spMk id="4" creationId="{00000000-0000-0000-0000-000000000000}"/>
          </ac:spMkLst>
        </pc:spChg>
        <pc:spChg chg="del mod">
          <ac:chgData name="Oh-Gyu Kwon" userId="9276bb344a1d1463" providerId="LiveId" clId="{12408E74-8F22-4F26-A06D-8F16E9C02D28}" dt="2026-09-03T10:12:46.726" v="66" actId="478"/>
          <ac:spMkLst>
            <pc:docMk/>
            <pc:sldMk cId="0" sldId="266"/>
            <ac:spMk id="5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3:01.098" v="70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3:14.682" v="74" actId="14100"/>
          <ac:spMkLst>
            <pc:docMk/>
            <pc:sldMk cId="0" sldId="266"/>
            <ac:spMk id="7" creationId="{00000000-0000-0000-0000-000000000000}"/>
          </ac:spMkLst>
        </pc:spChg>
        <pc:spChg chg="del mod">
          <ac:chgData name="Oh-Gyu Kwon" userId="9276bb344a1d1463" providerId="LiveId" clId="{12408E74-8F22-4F26-A06D-8F16E9C02D28}" dt="2026-09-03T10:12:49.776" v="68" actId="478"/>
          <ac:spMkLst>
            <pc:docMk/>
            <pc:sldMk cId="0" sldId="266"/>
            <ac:spMk id="8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3:01.098" v="70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3:14.682" v="74" actId="14100"/>
          <ac:spMkLst>
            <pc:docMk/>
            <pc:sldMk cId="0" sldId="266"/>
            <ac:spMk id="10" creationId="{00000000-0000-0000-0000-000000000000}"/>
          </ac:spMkLst>
        </pc:spChg>
        <pc:spChg chg="del mod">
          <ac:chgData name="Oh-Gyu Kwon" userId="9276bb344a1d1463" providerId="LiveId" clId="{12408E74-8F22-4F26-A06D-8F16E9C02D28}" dt="2026-09-03T10:12:52.439" v="69" actId="478"/>
          <ac:spMkLst>
            <pc:docMk/>
            <pc:sldMk cId="0" sldId="266"/>
            <ac:spMk id="11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3:01.098" v="70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3:14.682" v="74" actId="14100"/>
          <ac:spMkLst>
            <pc:docMk/>
            <pc:sldMk cId="0" sldId="266"/>
            <ac:spMk id="13" creationId="{00000000-0000-0000-0000-000000000000}"/>
          </ac:spMkLst>
        </pc:spChg>
        <pc:picChg chg="mod">
          <ac:chgData name="Oh-Gyu Kwon" userId="9276bb344a1d1463" providerId="LiveId" clId="{12408E74-8F22-4F26-A06D-8F16E9C02D28}" dt="2026-09-03T10:13:19.019" v="75" actId="1076"/>
          <ac:picMkLst>
            <pc:docMk/>
            <pc:sldMk cId="0" sldId="266"/>
            <ac:picMk id="3" creationId="{00000000-0000-0000-0000-000000000000}"/>
          </ac:picMkLst>
        </pc:picChg>
      </pc:sldChg>
      <pc:sldChg chg="modSp mod">
        <pc:chgData name="Oh-Gyu Kwon" userId="9276bb344a1d1463" providerId="LiveId" clId="{12408E74-8F22-4F26-A06D-8F16E9C02D28}" dt="2026-09-03T10:14:11.517" v="98" actId="14100"/>
        <pc:sldMkLst>
          <pc:docMk/>
          <pc:sldMk cId="0" sldId="267"/>
        </pc:sldMkLst>
        <pc:spChg chg="mod">
          <ac:chgData name="Oh-Gyu Kwon" userId="9276bb344a1d1463" providerId="LiveId" clId="{12408E74-8F22-4F26-A06D-8F16E9C02D28}" dt="2026-09-03T10:13:31.457" v="80" actId="403"/>
          <ac:spMkLst>
            <pc:docMk/>
            <pc:sldMk cId="0" sldId="267"/>
            <ac:spMk id="2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4:11.517" v="98" actId="14100"/>
          <ac:spMkLst>
            <pc:docMk/>
            <pc:sldMk cId="0" sldId="267"/>
            <ac:spMk id="3" creationId="{00000000-0000-0000-0000-000000000000}"/>
          </ac:spMkLst>
        </pc:spChg>
        <pc:picChg chg="mod">
          <ac:chgData name="Oh-Gyu Kwon" userId="9276bb344a1d1463" providerId="LiveId" clId="{12408E74-8F22-4F26-A06D-8F16E9C02D28}" dt="2026-09-03T10:14:04.417" v="96" actId="14100"/>
          <ac:picMkLst>
            <pc:docMk/>
            <pc:sldMk cId="0" sldId="267"/>
            <ac:picMk id="4" creationId="{00000000-0000-0000-0000-000000000000}"/>
          </ac:picMkLst>
        </pc:picChg>
      </pc:sldChg>
      <pc:sldChg chg="modSp mod">
        <pc:chgData name="Oh-Gyu Kwon" userId="9276bb344a1d1463" providerId="LiveId" clId="{12408E74-8F22-4F26-A06D-8F16E9C02D28}" dt="2026-09-03T10:16:29.058" v="144" actId="14100"/>
        <pc:sldMkLst>
          <pc:docMk/>
          <pc:sldMk cId="0" sldId="268"/>
        </pc:sldMkLst>
        <pc:spChg chg="mod">
          <ac:chgData name="Oh-Gyu Kwon" userId="9276bb344a1d1463" providerId="LiveId" clId="{12408E74-8F22-4F26-A06D-8F16E9C02D28}" dt="2026-09-03T10:14:22.063" v="105" actId="404"/>
          <ac:spMkLst>
            <pc:docMk/>
            <pc:sldMk cId="0" sldId="268"/>
            <ac:spMk id="2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4:53.860" v="120" actId="1076"/>
          <ac:spMkLst>
            <pc:docMk/>
            <pc:sldMk cId="0" sldId="268"/>
            <ac:spMk id="3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5:11.471" v="124" actId="403"/>
          <ac:spMkLst>
            <pc:docMk/>
            <pc:sldMk cId="0" sldId="268"/>
            <ac:spMk id="6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5:35.142" v="131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5:23.248" v="129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5:35.142" v="131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5:25.582" v="130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5:35.142" v="131" actId="1076"/>
          <ac:spMkLst>
            <pc:docMk/>
            <pc:sldMk cId="0" sldId="268"/>
            <ac:spMk id="15" creationId="{00000000-0000-0000-0000-000000000000}"/>
          </ac:spMkLst>
        </pc:spChg>
        <pc:picChg chg="mod">
          <ac:chgData name="Oh-Gyu Kwon" userId="9276bb344a1d1463" providerId="LiveId" clId="{12408E74-8F22-4F26-A06D-8F16E9C02D28}" dt="2026-09-03T10:16:29.058" v="144" actId="14100"/>
          <ac:picMkLst>
            <pc:docMk/>
            <pc:sldMk cId="0" sldId="268"/>
            <ac:picMk id="4" creationId="{00000000-0000-0000-0000-000000000000}"/>
          </ac:picMkLst>
        </pc:picChg>
        <pc:picChg chg="mod">
          <ac:chgData name="Oh-Gyu Kwon" userId="9276bb344a1d1463" providerId="LiveId" clId="{12408E74-8F22-4F26-A06D-8F16E9C02D28}" dt="2026-09-03T10:14:49.080" v="118" actId="1076"/>
          <ac:picMkLst>
            <pc:docMk/>
            <pc:sldMk cId="0" sldId="268"/>
            <ac:picMk id="5" creationId="{00000000-0000-0000-0000-000000000000}"/>
          </ac:picMkLst>
        </pc:picChg>
        <pc:picChg chg="mod">
          <ac:chgData name="Oh-Gyu Kwon" userId="9276bb344a1d1463" providerId="LiveId" clId="{12408E74-8F22-4F26-A06D-8F16E9C02D28}" dt="2026-09-03T10:14:49.080" v="118" actId="1076"/>
          <ac:picMkLst>
            <pc:docMk/>
            <pc:sldMk cId="0" sldId="268"/>
            <ac:picMk id="8" creationId="{00000000-0000-0000-0000-000000000000}"/>
          </ac:picMkLst>
        </pc:picChg>
        <pc:picChg chg="mod">
          <ac:chgData name="Oh-Gyu Kwon" userId="9276bb344a1d1463" providerId="LiveId" clId="{12408E74-8F22-4F26-A06D-8F16E9C02D28}" dt="2026-09-03T10:14:49.080" v="118" actId="1076"/>
          <ac:picMkLst>
            <pc:docMk/>
            <pc:sldMk cId="0" sldId="268"/>
            <ac:picMk id="12" creationId="{00000000-0000-0000-0000-000000000000}"/>
          </ac:picMkLst>
        </pc:picChg>
        <pc:picChg chg="mod">
          <ac:chgData name="Oh-Gyu Kwon" userId="9276bb344a1d1463" providerId="LiveId" clId="{12408E74-8F22-4F26-A06D-8F16E9C02D28}" dt="2026-09-03T10:15:37.694" v="132" actId="14100"/>
          <ac:picMkLst>
            <pc:docMk/>
            <pc:sldMk cId="0" sldId="268"/>
            <ac:picMk id="16" creationId="{00000000-0000-0000-0000-000000000000}"/>
          </ac:picMkLst>
        </pc:picChg>
      </pc:sldChg>
      <pc:sldChg chg="modSp mod">
        <pc:chgData name="Oh-Gyu Kwon" userId="9276bb344a1d1463" providerId="LiveId" clId="{12408E74-8F22-4F26-A06D-8F16E9C02D28}" dt="2026-09-03T10:16:50.663" v="147" actId="404"/>
        <pc:sldMkLst>
          <pc:docMk/>
          <pc:sldMk cId="0" sldId="270"/>
        </pc:sldMkLst>
        <pc:spChg chg="mod">
          <ac:chgData name="Oh-Gyu Kwon" userId="9276bb344a1d1463" providerId="LiveId" clId="{12408E74-8F22-4F26-A06D-8F16E9C02D28}" dt="2026-09-03T10:16:50.663" v="147" actId="404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Oh-Gyu Kwon" userId="9276bb344a1d1463" providerId="LiveId" clId="{12408E74-8F22-4F26-A06D-8F16E9C02D28}" dt="2026-09-03T10:16:56.169" v="148" actId="403"/>
        <pc:sldMkLst>
          <pc:docMk/>
          <pc:sldMk cId="0" sldId="271"/>
        </pc:sldMkLst>
        <pc:spChg chg="mod">
          <ac:chgData name="Oh-Gyu Kwon" userId="9276bb344a1d1463" providerId="LiveId" clId="{12408E74-8F22-4F26-A06D-8F16E9C02D28}" dt="2026-09-03T10:16:56.169" v="148" actId="403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Oh-Gyu Kwon" userId="9276bb344a1d1463" providerId="LiveId" clId="{12408E74-8F22-4F26-A06D-8F16E9C02D28}" dt="2026-09-03T10:17:34.791" v="162" actId="14100"/>
        <pc:sldMkLst>
          <pc:docMk/>
          <pc:sldMk cId="0" sldId="273"/>
        </pc:sldMkLst>
        <pc:spChg chg="mod">
          <ac:chgData name="Oh-Gyu Kwon" userId="9276bb344a1d1463" providerId="LiveId" clId="{12408E74-8F22-4F26-A06D-8F16E9C02D28}" dt="2026-09-03T10:17:16.199" v="154" actId="403"/>
          <ac:spMkLst>
            <pc:docMk/>
            <pc:sldMk cId="0" sldId="273"/>
            <ac:spMk id="2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7:24.482" v="158" actId="255"/>
          <ac:spMkLst>
            <pc:docMk/>
            <pc:sldMk cId="0" sldId="273"/>
            <ac:spMk id="4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7:34.791" v="162" actId="14100"/>
          <ac:spMkLst>
            <pc:docMk/>
            <pc:sldMk cId="0" sldId="273"/>
            <ac:spMk id="5" creationId="{00000000-0000-0000-0000-000000000000}"/>
          </ac:spMkLst>
        </pc:spChg>
        <pc:picChg chg="mod">
          <ac:chgData name="Oh-Gyu Kwon" userId="9276bb344a1d1463" providerId="LiveId" clId="{12408E74-8F22-4F26-A06D-8F16E9C02D28}" dt="2026-09-03T10:17:09.269" v="149" actId="14100"/>
          <ac:picMkLst>
            <pc:docMk/>
            <pc:sldMk cId="0" sldId="273"/>
            <ac:picMk id="3" creationId="{00000000-0000-0000-0000-000000000000}"/>
          </ac:picMkLst>
        </pc:picChg>
      </pc:sldChg>
      <pc:sldChg chg="modSp mod">
        <pc:chgData name="Oh-Gyu Kwon" userId="9276bb344a1d1463" providerId="LiveId" clId="{12408E74-8F22-4F26-A06D-8F16E9C02D28}" dt="2026-09-03T10:18:16.176" v="175" actId="14100"/>
        <pc:sldMkLst>
          <pc:docMk/>
          <pc:sldMk cId="0" sldId="278"/>
        </pc:sldMkLst>
        <pc:spChg chg="mod">
          <ac:chgData name="Oh-Gyu Kwon" userId="9276bb344a1d1463" providerId="LiveId" clId="{12408E74-8F22-4F26-A06D-8F16E9C02D28}" dt="2026-09-03T10:17:50.014" v="167" actId="403"/>
          <ac:spMkLst>
            <pc:docMk/>
            <pc:sldMk cId="0" sldId="278"/>
            <ac:spMk id="2" creationId="{00000000-0000-0000-0000-000000000000}"/>
          </ac:spMkLst>
        </pc:spChg>
        <pc:spChg chg="mod">
          <ac:chgData name="Oh-Gyu Kwon" userId="9276bb344a1d1463" providerId="LiveId" clId="{12408E74-8F22-4F26-A06D-8F16E9C02D28}" dt="2026-09-03T10:18:16.176" v="175" actId="14100"/>
          <ac:spMkLst>
            <pc:docMk/>
            <pc:sldMk cId="0" sldId="278"/>
            <ac:spMk id="4" creationId="{00000000-0000-0000-0000-000000000000}"/>
          </ac:spMkLst>
        </pc:spChg>
        <pc:picChg chg="mod">
          <ac:chgData name="Oh-Gyu Kwon" userId="9276bb344a1d1463" providerId="LiveId" clId="{12408E74-8F22-4F26-A06D-8F16E9C02D28}" dt="2026-09-03T10:17:53.111" v="168" actId="14100"/>
          <ac:picMkLst>
            <pc:docMk/>
            <pc:sldMk cId="0" sldId="278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815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3831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발전의 역사와 향후 20년</a:t>
            </a:r>
            <a:endParaRPr lang="ko-KR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1243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AI의 역사는 흥미로운 기복의 연속이었습니다. 초기에는 AI에 대한 낙관과 투자가 급증하는 ‘봄’이 있었지만, 기술적 한계에 부딪히면서 ‘AI 겨울’이라 불리는 여러 정체기를 겪었습니다.</a:t>
            </a:r>
            <a:endParaRPr lang="ko-KR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1940년대–1950년대: 형성기</a:t>
            </a:r>
            <a:endParaRPr lang="ko-KR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3315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900" b="1" kern="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개념의 탄생</a:t>
            </a:r>
            <a:endParaRPr lang="ko-KR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128018"/>
            <a:ext cx="5319083" cy="2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ko-KR" alt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앨런 튜링의 “기계도 생각할 수 있는가?”라는 질문과 튜링 테스트의 제안은 AI 개념의 시작을 알렸습니다.</a:t>
            </a:r>
            <a:endParaRPr lang="ko-KR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ko-KR" alt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1956년 다트머스 회의에서 “인공지능”이라는 용어가 공식적으로 사용되며, 이를 학문 분야로 자리매김했습니다.</a:t>
            </a:r>
            <a:endParaRPr lang="ko-KR" sz="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487" y="939006"/>
            <a:ext cx="5319083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487" y="6311305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초기에는 기호 기반 AI 전문가 시스템이 주목을 받았습니다.</a:t>
            </a:r>
            <a:endParaRPr lang="ko-KR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2140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1970년대–1980년대: AI 겨울과 전문가 시스템</a:t>
            </a:r>
            <a:endParaRPr lang="ko-KR" sz="3700" dirty="0"/>
          </a:p>
        </p:txBody>
      </p:sp>
      <p:sp>
        <p:nvSpPr>
          <p:cNvPr id="4" name="Shape 1"/>
          <p:cNvSpPr/>
          <p:nvPr/>
        </p:nvSpPr>
        <p:spPr>
          <a:xfrm>
            <a:off x="8369091" y="2086173"/>
            <a:ext cx="25399" cy="4150420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627548" y="2286099"/>
            <a:ext cx="567021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169170" y="208617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40060" y="212159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233360" y="2151063"/>
            <a:ext cx="22033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첫 번째 AI 겨울</a:t>
            </a:r>
            <a:endParaRPr lang="ko-KR" sz="1850" dirty="0"/>
          </a:p>
        </p:txBody>
      </p:sp>
      <p:sp>
        <p:nvSpPr>
          <p:cNvPr id="9" name="Text 6"/>
          <p:cNvSpPr/>
          <p:nvPr/>
        </p:nvSpPr>
        <p:spPr>
          <a:xfrm>
            <a:off x="5233360" y="2559745"/>
            <a:ext cx="22033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초기 AI의 한계가 분명해지면서 첫 번째 AI 겨울이 찾아왔습니다.</a:t>
            </a:r>
            <a:endParaRPr lang="ko-KR" sz="1450" dirty="0"/>
          </a:p>
        </p:txBody>
      </p:sp>
      <p:sp>
        <p:nvSpPr>
          <p:cNvPr id="10" name="Shape 7"/>
          <p:cNvSpPr/>
          <p:nvPr/>
        </p:nvSpPr>
        <p:spPr>
          <a:xfrm>
            <a:off x="8569011" y="3420170"/>
            <a:ext cx="567021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169170" y="3220244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40060" y="325566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326825" y="3285133"/>
            <a:ext cx="22033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전문가 시스템의 부상</a:t>
            </a:r>
            <a:endParaRPr lang="ko-KR" sz="1850" dirty="0"/>
          </a:p>
        </p:txBody>
      </p:sp>
      <p:sp>
        <p:nvSpPr>
          <p:cNvPr id="14" name="Text 11"/>
          <p:cNvSpPr/>
          <p:nvPr/>
        </p:nvSpPr>
        <p:spPr>
          <a:xfrm>
            <a:off x="9326825" y="3693815"/>
            <a:ext cx="220339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도메인별 전문 지식을 컴퓨터에 인코딩하여 문제를 해결하는 방식으로, "전문가 시스템"은 성공을 거두며 잠시 부흥기를 맞았습니다.</a:t>
            </a:r>
            <a:endParaRPr lang="ko-KR" sz="1450" dirty="0"/>
          </a:p>
        </p:txBody>
      </p:sp>
      <p:sp>
        <p:nvSpPr>
          <p:cNvPr id="15" name="Shape 12"/>
          <p:cNvSpPr/>
          <p:nvPr/>
        </p:nvSpPr>
        <p:spPr>
          <a:xfrm>
            <a:off x="7627548" y="4601964"/>
            <a:ext cx="567021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69170" y="440203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40060" y="443745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233360" y="4466927"/>
            <a:ext cx="22033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두 번째 AI 겨울</a:t>
            </a:r>
            <a:endParaRPr lang="ko-KR" sz="1850" dirty="0"/>
          </a:p>
        </p:txBody>
      </p:sp>
      <p:sp>
        <p:nvSpPr>
          <p:cNvPr id="19" name="Text 16"/>
          <p:cNvSpPr/>
          <p:nvPr/>
        </p:nvSpPr>
        <p:spPr>
          <a:xfrm>
            <a:off x="5233360" y="4875609"/>
            <a:ext cx="220339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지식 베이스를 구축하는 어려움과 유연성의 부족으로 인해, 이 분야는 또 한 번의 정체기에 들어섰습니다.</a:t>
            </a:r>
            <a:endParaRPr lang="ko-KR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650" b="1" kern="0" spc="-11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1970년대–1980년대: 전문가 시스템의 특징</a:t>
            </a:r>
            <a:endParaRPr lang="ko-KR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67545"/>
            <a:ext cx="3500747" cy="20045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4502" y="1678980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지식 기반 추론</a:t>
            </a:r>
            <a:endParaRPr lang="ko-KR" sz="1800" dirty="0"/>
          </a:p>
        </p:txBody>
      </p:sp>
      <p:sp>
        <p:nvSpPr>
          <p:cNvPr id="5" name="Text 2"/>
          <p:cNvSpPr/>
          <p:nvPr/>
        </p:nvSpPr>
        <p:spPr>
          <a:xfrm>
            <a:off x="974502" y="2079526"/>
            <a:ext cx="297629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이들은 전문가의 지식과 경험을 IF-THEN 규칙으로 직접 시스템에 인코딩하여 특정 문제를 해결했습니다.</a:t>
            </a:r>
            <a:endParaRPr lang="ko-KR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5375" y="1467545"/>
            <a:ext cx="3500846" cy="20045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8402" y="1678980"/>
            <a:ext cx="297638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도메인 전문화</a:t>
            </a:r>
            <a:endParaRPr lang="ko-KR" sz="1800" dirty="0"/>
          </a:p>
        </p:txBody>
      </p:sp>
      <p:sp>
        <p:nvSpPr>
          <p:cNvPr id="8" name="Text 4"/>
          <p:cNvSpPr/>
          <p:nvPr/>
        </p:nvSpPr>
        <p:spPr>
          <a:xfrm>
            <a:off x="4658402" y="2079526"/>
            <a:ext cx="2976389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의료 진단(MYCIN)과 광물 탐사(PROSPECTOR)처럼 매우 좁고 깊이 집중된 분야에서 뛰어난 성능을 보였습니다.</a:t>
            </a:r>
            <a:endParaRPr lang="ko-KR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9374" y="1467545"/>
            <a:ext cx="3500747" cy="20045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2401" y="1678980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설명 가능성</a:t>
            </a:r>
            <a:endParaRPr lang="ko-KR" sz="1800" dirty="0"/>
          </a:p>
        </p:txBody>
      </p:sp>
      <p:sp>
        <p:nvSpPr>
          <p:cNvPr id="11" name="Text 6"/>
          <p:cNvSpPr/>
          <p:nvPr/>
        </p:nvSpPr>
        <p:spPr>
          <a:xfrm>
            <a:off x="8342401" y="2079526"/>
            <a:ext cx="297629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추론 과정을 단계별로 설명할 수 있어 사용자가 시스템의 결정 근거를 더 쉽게 이해할 수 있었습니다.</a:t>
            </a:r>
            <a:endParaRPr lang="ko-KR" sz="1450" dirty="0"/>
          </a:p>
        </p:txBody>
      </p:sp>
      <p:sp>
        <p:nvSpPr>
          <p:cNvPr id="12" name="Text 7"/>
          <p:cNvSpPr/>
          <p:nvPr/>
        </p:nvSpPr>
        <p:spPr>
          <a:xfrm>
            <a:off x="661475" y="3746798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900" b="1" kern="0" spc="-8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전문가 시스템이 쇠퇴한 이유</a:t>
            </a:r>
            <a:endParaRPr lang="ko-KR" sz="2900" dirty="0"/>
          </a:p>
        </p:txBody>
      </p:sp>
      <p:sp>
        <p:nvSpPr>
          <p:cNvPr id="13" name="Text 8"/>
          <p:cNvSpPr/>
          <p:nvPr/>
        </p:nvSpPr>
        <p:spPr>
          <a:xfrm>
            <a:off x="661475" y="4486672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큰 성공을 거두었음에도 전문가 시스템은 한계에 부딪혔고, 이는 두 번째 AI 겨울로 이어졌습니다.</a:t>
            </a:r>
            <a:endParaRPr lang="ko-KR" sz="1450" dirty="0"/>
          </a:p>
        </p:txBody>
      </p:sp>
      <p:sp>
        <p:nvSpPr>
          <p:cNvPr id="14" name="Shape 9"/>
          <p:cNvSpPr/>
          <p:nvPr/>
        </p:nvSpPr>
        <p:spPr>
          <a:xfrm>
            <a:off x="661475" y="4987925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1263222" y="5051822"/>
            <a:ext cx="286854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지식 획득 병목</a:t>
            </a:r>
            <a:endParaRPr lang="ko-KR" sz="1800" dirty="0"/>
          </a:p>
        </p:txBody>
      </p:sp>
      <p:sp>
        <p:nvSpPr>
          <p:cNvPr id="16" name="Text 11"/>
          <p:cNvSpPr/>
          <p:nvPr/>
        </p:nvSpPr>
        <p:spPr>
          <a:xfrm>
            <a:off x="1263222" y="5452368"/>
            <a:ext cx="286854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인간 전문가의 방대한 암묵지를 하나씩 규칙으로 변환하는 일은 매우 어렵고 시간이 많이 걸렸습니다.</a:t>
            </a:r>
            <a:endParaRPr lang="ko-KR" sz="1450" dirty="0"/>
          </a:p>
        </p:txBody>
      </p:sp>
      <p:sp>
        <p:nvSpPr>
          <p:cNvPr id="17" name="Shape 12"/>
          <p:cNvSpPr/>
          <p:nvPr/>
        </p:nvSpPr>
        <p:spPr>
          <a:xfrm>
            <a:off x="4360654" y="4987925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4962401" y="5051822"/>
            <a:ext cx="286854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유연성 부족과 취약성</a:t>
            </a:r>
            <a:endParaRPr lang="ko-KR" sz="1800" dirty="0"/>
          </a:p>
        </p:txBody>
      </p:sp>
      <p:sp>
        <p:nvSpPr>
          <p:cNvPr id="19" name="Text 14"/>
          <p:cNvSpPr/>
          <p:nvPr/>
        </p:nvSpPr>
        <p:spPr>
          <a:xfrm>
            <a:off x="4962401" y="5452368"/>
            <a:ext cx="286854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프로그램된 도메인 밖에서는 제대로 작동하지 않았고, 새로운 상황을 학습하는 능력도 부족했습니다.</a:t>
            </a:r>
            <a:endParaRPr lang="ko-KR" sz="1450" dirty="0"/>
          </a:p>
        </p:txBody>
      </p:sp>
      <p:sp>
        <p:nvSpPr>
          <p:cNvPr id="20" name="Shape 15"/>
          <p:cNvSpPr/>
          <p:nvPr/>
        </p:nvSpPr>
        <p:spPr>
          <a:xfrm>
            <a:off x="8059834" y="4987925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661580" y="5051822"/>
            <a:ext cx="286864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유지보수의 어려움</a:t>
            </a:r>
            <a:endParaRPr lang="ko-KR" sz="1800" dirty="0"/>
          </a:p>
        </p:txBody>
      </p:sp>
      <p:sp>
        <p:nvSpPr>
          <p:cNvPr id="22" name="Text 17"/>
          <p:cNvSpPr/>
          <p:nvPr/>
        </p:nvSpPr>
        <p:spPr>
          <a:xfrm>
            <a:off x="8661580" y="5452368"/>
            <a:ext cx="286864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45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규칙 수가 늘어날수록 시스템을 업데이트하고 관리하는 일이 더 복잡하고 비용도 커졌습니다.</a:t>
            </a:r>
            <a:endParaRPr lang="ko-KR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573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1990년대~2000년대: 조용한 진전과 머신러닝의 등장</a:t>
            </a:r>
            <a:endParaRPr lang="ko-KR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322116"/>
            <a:ext cx="3053877" cy="2047180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75881" y="2536527"/>
            <a:ext cx="26250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머신러닝의 부상</a:t>
            </a:r>
            <a:endParaRPr lang="ko-KR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2945209"/>
            <a:ext cx="26250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AI라는 용어보다 "머신러닝"이라는 용어가 더 널리 사용되기 시작했고, 데이터 기반 학습 방법이 발전했습니다.</a:t>
            </a:r>
            <a:endParaRPr lang="ko-KR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322116"/>
            <a:ext cx="3053976" cy="2047180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8765" y="2536527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신경망 연구</a:t>
            </a:r>
            <a:endParaRPr lang="ko-KR" sz="1850" dirty="0"/>
          </a:p>
        </p:txBody>
      </p:sp>
      <p:sp>
        <p:nvSpPr>
          <p:cNvPr id="9" name="Text 6"/>
          <p:cNvSpPr/>
          <p:nvPr/>
        </p:nvSpPr>
        <p:spPr>
          <a:xfrm>
            <a:off x="4118765" y="2945209"/>
            <a:ext cx="2625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신경망 연구는 꾸준히 이어졌고, 데이터가 증가함에 따라 그 잠재력이 점차 드러나기 시작했습니다.</a:t>
            </a:r>
            <a:endParaRPr lang="ko-KR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558308"/>
            <a:ext cx="6296860" cy="1442343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5881" y="4772720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딥 블루의 승리</a:t>
            </a:r>
            <a:endParaRPr lang="ko-KR" sz="1850" dirty="0"/>
          </a:p>
        </p:txBody>
      </p:sp>
      <p:sp>
        <p:nvSpPr>
          <p:cNvPr id="12" name="Text 9"/>
          <p:cNvSpPr/>
          <p:nvPr/>
        </p:nvSpPr>
        <p:spPr>
          <a:xfrm>
            <a:off x="875881" y="5181402"/>
            <a:ext cx="58680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IBM의 딥 블루가 체스 챔피언을 다시 한번 꺾으면서 AI의 가능성을 보여주었습니다.</a:t>
            </a:r>
            <a:endParaRPr lang="ko-KR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60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1990년대–2000년대: 머신러닝의 개념과 실제 응용</a:t>
            </a:r>
            <a:endParaRPr lang="ko-KR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24683"/>
            <a:ext cx="2539936" cy="15698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83534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기반 학습</a:t>
            </a:r>
            <a:endParaRPr lang="ko-KR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392216"/>
            <a:ext cx="25399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시기 새로운 AI 접근 방식이 등장했으며, 명시적인 프로그래밍 없이 데이터에서 패턴을 학습하고 예측을 수행했다.</a:t>
            </a:r>
            <a:endParaRPr lang="ko-KR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224683"/>
            <a:ext cx="2540036" cy="15698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983534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이메일 스팸 필터링</a:t>
            </a:r>
            <a:endParaRPr lang="ko-KR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392216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머신러닝 알고리즘은 방대한 데이터셋을 기반으로 스팸 메일을 자동으로 분류하기 위해 일상생활에 널리 적용되기 시작했다.</a:t>
            </a:r>
            <a:endParaRPr lang="ko-KR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224683"/>
            <a:ext cx="2540036" cy="15698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983534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제품 추천 시스템</a:t>
            </a:r>
            <a:endParaRPr lang="ko-KR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392216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사용자의 과거 구매 이력과 행동 데이터를 분석하여 개인화된 제품을 추천하는 시스템이 전자상거래에 도입되었다.</a:t>
            </a:r>
            <a:endParaRPr lang="ko-KR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224683"/>
            <a:ext cx="2540036" cy="156983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983534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신용 평가 및 사기 탐지</a:t>
            </a:r>
            <a:endParaRPr lang="ko-KR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392216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금융 분야에서는 머신러닝을 활용해 대량의 거래 데이터를 분석하고 신용도를 평가하며 사기 거래를 탐지했다.</a:t>
            </a:r>
            <a:endParaRPr lang="ko-KR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IBM 딥 블루: 체스 챔피언을 이기는 것 그 이상</a:t>
            </a:r>
            <a:endParaRPr lang="ko-KR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09538"/>
            <a:ext cx="7560676" cy="4536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99100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1997년, IBM의 체스 컴퓨터 딥 블루는 당시 세계 체스 챔피언 가리 카스파로프를 꺾으며 인공지능 역사에서 중요한 이정표를 세웠습니다. 이는 AI가 인간과 같은 지능을 요구하는 영역에서도 뛰어난 성능을 발휘할 수 있음을 증명했습니다.</a:t>
            </a:r>
            <a:endParaRPr lang="ko-KR" sz="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665589"/>
            <a:ext cx="3591430" cy="8532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386350" y="5728196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-3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68628" y="6008985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전략적 사고의 증명</a:t>
            </a:r>
            <a:endParaRPr lang="ko-KR" sz="900" dirty="0"/>
          </a:p>
        </p:txBody>
      </p:sp>
      <p:sp>
        <p:nvSpPr>
          <p:cNvPr id="8" name="Text 4"/>
          <p:cNvSpPr/>
          <p:nvPr/>
        </p:nvSpPr>
        <p:spPr>
          <a:xfrm>
            <a:off x="768628" y="6184900"/>
            <a:ext cx="337712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딥 블루는 막강한 연산 능력과 방대한 데이터베이스를 활용해 복잡한 체스 전략을 구사하며 세계 최고의 인간 플레이어를 꺾었습니다.</a:t>
            </a:r>
            <a:endParaRPr lang="ko-KR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0132" y="5665589"/>
            <a:ext cx="3591430" cy="8532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25007" y="5728196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-3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407286" y="6008985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AI에 대한 인식 변화</a:t>
            </a:r>
            <a:endParaRPr lang="ko-KR" sz="900" dirty="0"/>
          </a:p>
        </p:txBody>
      </p:sp>
      <p:sp>
        <p:nvSpPr>
          <p:cNvPr id="12" name="Text 7"/>
          <p:cNvSpPr/>
          <p:nvPr/>
        </p:nvSpPr>
        <p:spPr>
          <a:xfrm>
            <a:off x="4407286" y="6184900"/>
            <a:ext cx="337712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승리는 AI의 잠재력을 대중에게 깊이 인상지었고, AI 연구와 투자에 대한 새로운 관심을 불러일으켰습니다.</a:t>
            </a:r>
            <a:endParaRPr lang="ko-KR" sz="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8790" y="5665589"/>
            <a:ext cx="3591430" cy="85328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63664" y="5728196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-3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8045943" y="6008985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하드웨어와 소프트웨어의 결합</a:t>
            </a:r>
            <a:endParaRPr lang="ko-KR" sz="900" dirty="0"/>
          </a:p>
        </p:txBody>
      </p:sp>
      <p:sp>
        <p:nvSpPr>
          <p:cNvPr id="16" name="Text 10"/>
          <p:cNvSpPr/>
          <p:nvPr/>
        </p:nvSpPr>
        <p:spPr>
          <a:xfrm>
            <a:off x="8045943" y="6184900"/>
            <a:ext cx="337712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딥 블루의 성공은 단순한 알고리즘을 넘어, 강력한 병렬 처리 하드웨어와 정교한 소프트웨어의 결합이 필수적임을 보여주었습니다.</a:t>
            </a:r>
            <a:endParaRPr lang="ko-KR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3421"/>
            <a:ext cx="6296860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600" b="1" kern="0" spc="-10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2010년대 이후: 딥러닝 혁명과 AI의 대중화</a:t>
            </a:r>
            <a:endParaRPr lang="ko-KR" sz="3600" dirty="0"/>
          </a:p>
        </p:txBody>
      </p:sp>
      <p:sp>
        <p:nvSpPr>
          <p:cNvPr id="4" name="Shape 1"/>
          <p:cNvSpPr/>
          <p:nvPr/>
        </p:nvSpPr>
        <p:spPr>
          <a:xfrm>
            <a:off x="661475" y="1953816"/>
            <a:ext cx="183054" cy="1335385"/>
          </a:xfrm>
          <a:prstGeom prst="roundRect">
            <a:avLst>
              <a:gd name="adj" fmla="val 4201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21828" y="2136874"/>
            <a:ext cx="593650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00" b="1" kern="0" spc="-5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AlexNet의 돌파구 (2012)</a:t>
            </a:r>
            <a:endParaRPr lang="ko-KR" sz="1800" dirty="0"/>
          </a:p>
        </p:txBody>
      </p:sp>
      <p:sp>
        <p:nvSpPr>
          <p:cNvPr id="6" name="Text 3"/>
          <p:cNvSpPr/>
          <p:nvPr/>
        </p:nvSpPr>
        <p:spPr>
          <a:xfrm>
            <a:off x="1021828" y="2529284"/>
            <a:ext cx="5936506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ko-KR" alt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ImageNet 대회에서 딥러닝 기반 AlexNet이 압도적인 성능을 보여주며 딥러닝 혁명의 시작을 알렸습니다.</a:t>
            </a:r>
            <a:endParaRPr lang="ko-KR" sz="1400" dirty="0"/>
          </a:p>
        </p:txBody>
      </p:sp>
      <p:sp>
        <p:nvSpPr>
          <p:cNvPr id="7" name="Shape 4"/>
          <p:cNvSpPr/>
          <p:nvPr/>
        </p:nvSpPr>
        <p:spPr>
          <a:xfrm>
            <a:off x="936105" y="3466505"/>
            <a:ext cx="183054" cy="1335385"/>
          </a:xfrm>
          <a:prstGeom prst="roundRect">
            <a:avLst>
              <a:gd name="adj" fmla="val 4201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296459" y="3649563"/>
            <a:ext cx="566187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00" b="1" kern="0" spc="-5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AlphaGo의 충격 (2016)</a:t>
            </a:r>
            <a:endParaRPr lang="ko-KR" sz="1800" dirty="0"/>
          </a:p>
        </p:txBody>
      </p:sp>
      <p:sp>
        <p:nvSpPr>
          <p:cNvPr id="9" name="Text 6"/>
          <p:cNvSpPr/>
          <p:nvPr/>
        </p:nvSpPr>
        <p:spPr>
          <a:xfrm>
            <a:off x="1296459" y="4041973"/>
            <a:ext cx="5661876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ko-KR" alt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AlphaGo는 9단 바둑 기사 이세돌과의 대국에서 승리해 대중을 놀라게 했고, AI에 대한 관심과 투자가 급격히 증가하는 계기가 되었습니다.</a:t>
            </a:r>
            <a:endParaRPr lang="ko-KR" sz="1400" dirty="0"/>
          </a:p>
        </p:txBody>
      </p:sp>
      <p:sp>
        <p:nvSpPr>
          <p:cNvPr id="10" name="Shape 7"/>
          <p:cNvSpPr/>
          <p:nvPr/>
        </p:nvSpPr>
        <p:spPr>
          <a:xfrm>
            <a:off x="1210736" y="4979194"/>
            <a:ext cx="183054" cy="1335385"/>
          </a:xfrm>
          <a:prstGeom prst="roundRect">
            <a:avLst>
              <a:gd name="adj" fmla="val 4201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571090" y="5162252"/>
            <a:ext cx="53872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00" b="1" kern="0" spc="-5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트랜스포머의 부상</a:t>
            </a:r>
            <a:endParaRPr lang="ko-KR" sz="1800" dirty="0"/>
          </a:p>
        </p:txBody>
      </p:sp>
      <p:sp>
        <p:nvSpPr>
          <p:cNvPr id="12" name="Text 9"/>
          <p:cNvSpPr/>
          <p:nvPr/>
        </p:nvSpPr>
        <p:spPr>
          <a:xfrm>
            <a:off x="1571090" y="5554663"/>
            <a:ext cx="538724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ko-KR" alt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트랜스포머 아키텍처의 등장으로 자연어 처리(NLP)에 혁명이 일어났고, 오늘날의 대규모 언어 모델(LLM)과 생성형 AI의 기반이 되었습니다.</a:t>
            </a:r>
            <a:endParaRPr lang="ko-KR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081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6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2010년대 이후: 딥러닝과 머신러닝의 차이</a:t>
            </a:r>
            <a:endParaRPr lang="ko-KR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203807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딥러닝의 부상</a:t>
            </a:r>
            <a:endParaRPr lang="ko-KR" dirty="0"/>
          </a:p>
        </p:txBody>
      </p:sp>
      <p:sp>
        <p:nvSpPr>
          <p:cNvPr id="4" name="Text 2"/>
          <p:cNvSpPr/>
          <p:nvPr/>
        </p:nvSpPr>
        <p:spPr>
          <a:xfrm>
            <a:off x="655125" y="1643802"/>
            <a:ext cx="5315512" cy="1411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000"/>
              </a:lnSpc>
              <a:spcAft>
                <a:spcPts val="350"/>
              </a:spcAft>
              <a:buNone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딥러닝은 </a:t>
            </a:r>
            <a:r>
              <a:rPr lang="ko-KR" altLang="en-US" sz="14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딥 뉴럴 네트워크</a:t>
            </a: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사용해 데이터로부터 학습하고 패턴을 인식하는 머신러닝의 한 분야입니다.</a:t>
            </a:r>
            <a:endParaRPr lang="ko-KR" sz="14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2010년대 이후 GPU와 같은 컴퓨팅 성능의 발전과 방대한 데이터의 축적은 이미지 인식, 음성 인식, 자연어 처리와 같은 분야에서 혁신적인 돌파구를 만들어내며 폭발적인 성장을 이끌었습니다.</a:t>
            </a:r>
            <a:endParaRPr lang="ko-KR" sz="1400" dirty="0"/>
          </a:p>
        </p:txBody>
      </p:sp>
      <p:sp>
        <p:nvSpPr>
          <p:cNvPr id="5" name="Text 3"/>
          <p:cNvSpPr/>
          <p:nvPr/>
        </p:nvSpPr>
        <p:spPr>
          <a:xfrm>
            <a:off x="6221058" y="1203807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00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머신러닝과의 주요 차이</a:t>
            </a:r>
            <a:endParaRPr lang="ko-KR" sz="2000" dirty="0"/>
          </a:p>
        </p:txBody>
      </p:sp>
      <p:sp>
        <p:nvSpPr>
          <p:cNvPr id="6" name="Text 4"/>
          <p:cNvSpPr/>
          <p:nvPr/>
        </p:nvSpPr>
        <p:spPr>
          <a:xfrm>
            <a:off x="6214708" y="1643802"/>
            <a:ext cx="5315512" cy="135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000"/>
              </a:lnSpc>
              <a:spcAft>
                <a:spcPts val="350"/>
              </a:spcAft>
              <a:buNone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머신러닝은 SVM, 결정 트리 등 다양한 알고리즘을 포함하는 넓은 개념인 반면, 딥러닝은 </a:t>
            </a:r>
            <a:r>
              <a:rPr lang="ko-KR" altLang="en-US" sz="14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인간의 뇌 구조를 모방한 신경망</a:t>
            </a: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에 집중합니다.</a:t>
            </a:r>
            <a:endParaRPr lang="ko-KR" sz="14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딥러닝은 특징 추출 과정을 자동화하여 이미지, 오디오, 텍스트와 같은 대규모 비정형 데이터를 다루는 데 특히 강하며, 데이터가 많아질수록 성능이 향상되는 경향이 있습니다.</a:t>
            </a:r>
            <a:endParaRPr lang="ko-KR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195" y="3028104"/>
            <a:ext cx="5387112" cy="32323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88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2012년 ImageNet 대회 소개</a:t>
            </a:r>
            <a:endParaRPr lang="ko-KR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87525"/>
            <a:ext cx="3465426" cy="21418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11837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ImageNet 대회</a:t>
            </a:r>
            <a:endParaRPr lang="ko-KR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527054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이는 수백만 장의 이미지를 담은 방대한 데이터셋을 사용해 객체를 정확하게 분류하는 능력을 시험하는 대규모 시각 인식 도전 과제였습니다.</a:t>
            </a:r>
            <a:endParaRPr lang="ko-KR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1787525"/>
            <a:ext cx="3465426" cy="21418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411837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AlexNet의 등장과 승리</a:t>
            </a:r>
            <a:endParaRPr lang="ko-KR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527054"/>
            <a:ext cx="346542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토론토 대학교의 Alex Krizhevsky, Ilya Sutskever, Geoffrey Hinton 교수가 개발한 딥러닝 기반 모델 AlexNet은 이전의 모든 기록을 압도적으로 뛰어넘으며 대회에서 우승했습니다.</a:t>
            </a:r>
            <a:endParaRPr lang="ko-KR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1787525"/>
            <a:ext cx="3465426" cy="21418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411837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딥러닝 혁명의 시작</a:t>
            </a:r>
            <a:endParaRPr lang="ko-KR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527054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사건은 전 세계에 딥러닝의 엄청난 잠재력을 보여 주었고, 전통적인 머신러닝에서 딥러닝으로 AI 연구계의 방향을 완전히 바꾸는 결정적인 전환점이 되었습니다.</a:t>
            </a:r>
            <a:endParaRPr lang="ko-KR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758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6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2010년대부터: 트랜스포머의 부상</a:t>
            </a:r>
            <a:endParaRPr lang="ko-KR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75" y="1177555"/>
            <a:ext cx="5326152" cy="3195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1652" y="4521912"/>
            <a:ext cx="10848568" cy="551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2017년 구글 브레인 팀이 소개한 트랜스포머 아키텍처는 특히 자연어 처리(NLP) 분야에서 인공지능에 혁명적인 변화를 가져왔습니다. </a:t>
            </a:r>
            <a:endParaRPr lang="en-US" altLang="ko-KR" sz="1400" kern="0" spc="-15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이는 이전 모델들의 한계를 뛰어넘어 AI 발전의 새로운 지평을 열었습니다.</a:t>
            </a:r>
            <a:endParaRPr lang="ko-KR" sz="1400" dirty="0"/>
          </a:p>
        </p:txBody>
      </p:sp>
      <p:sp>
        <p:nvSpPr>
          <p:cNvPr id="6" name="Text 3"/>
          <p:cNvSpPr/>
          <p:nvPr/>
        </p:nvSpPr>
        <p:spPr>
          <a:xfrm>
            <a:off x="769695" y="5102875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병렬 처리의 혁신</a:t>
            </a:r>
            <a:endParaRPr lang="ko-KR" dirty="0"/>
          </a:p>
        </p:txBody>
      </p:sp>
      <p:sp>
        <p:nvSpPr>
          <p:cNvPr id="7" name="Text 4"/>
          <p:cNvSpPr/>
          <p:nvPr/>
        </p:nvSpPr>
        <p:spPr>
          <a:xfrm>
            <a:off x="768628" y="5547740"/>
            <a:ext cx="3377123" cy="93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트랜스포머는 순차 데이터를 병렬로 처리하여, 기존 순환 신경망(RNN)과 합성곱 신경망(CNN)의 속도 한계를 해결했습니다.</a:t>
            </a:r>
            <a:endParaRPr lang="ko-KR" sz="1400" dirty="0"/>
          </a:p>
        </p:txBody>
      </p:sp>
      <p:sp>
        <p:nvSpPr>
          <p:cNvPr id="9" name="Text 6"/>
          <p:cNvSpPr/>
          <p:nvPr/>
        </p:nvSpPr>
        <p:spPr>
          <a:xfrm>
            <a:off x="4408353" y="5102875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어텐션 메커니즘</a:t>
            </a:r>
            <a:endParaRPr lang="ko-KR" dirty="0"/>
          </a:p>
        </p:txBody>
      </p:sp>
      <p:sp>
        <p:nvSpPr>
          <p:cNvPr id="10" name="Text 7"/>
          <p:cNvSpPr/>
          <p:nvPr/>
        </p:nvSpPr>
        <p:spPr>
          <a:xfrm>
            <a:off x="4407286" y="5547740"/>
            <a:ext cx="3377123" cy="93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핵심은 어텐션 메커니즘으로, 입력 시퀀스의 모든 부분에 동시에 "집중"하여 가장 중요한 정보를 찾아냅니다.</a:t>
            </a:r>
            <a:endParaRPr lang="ko-KR" sz="1400" dirty="0"/>
          </a:p>
        </p:txBody>
      </p:sp>
      <p:sp>
        <p:nvSpPr>
          <p:cNvPr id="12" name="Text 9"/>
          <p:cNvSpPr/>
          <p:nvPr/>
        </p:nvSpPr>
        <p:spPr>
          <a:xfrm>
            <a:off x="8047010" y="5102875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생성형 AI의 기반</a:t>
            </a:r>
            <a:endParaRPr lang="ko-KR" dirty="0"/>
          </a:p>
        </p:txBody>
      </p:sp>
      <p:sp>
        <p:nvSpPr>
          <p:cNvPr id="13" name="Text 10"/>
          <p:cNvSpPr/>
          <p:nvPr/>
        </p:nvSpPr>
        <p:spPr>
          <a:xfrm>
            <a:off x="8045943" y="5547740"/>
            <a:ext cx="3377123" cy="93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이러한 혁신 덕분에 트랜스포머는 GPT-3, BERT와 같은 대규모 언어 모델(LLM)과 현대 생성형 AI 모델의 필수 기반이 되었습니다.</a:t>
            </a:r>
            <a:endParaRPr lang="ko-KR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6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2020년대: 생성형 AI의 시대</a:t>
            </a:r>
            <a:endParaRPr lang="ko-KR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357232"/>
            <a:ext cx="5315512" cy="3634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50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ko-KR" altLang="en-US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ChatGPT가 이끈 생성형 AI의 부상은 AI의 역사를 다시 썼습니다. </a:t>
            </a:r>
            <a:endParaRPr lang="en-US" altLang="ko-KR" kern="0" spc="-15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285750" indent="-285750" algn="l">
              <a:lnSpc>
                <a:spcPct val="150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ko-KR" altLang="en-US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텍스트, 이미지, 오디오, 비디오 등 다양한 형태의 콘텐츠를 생성할 수 있게 되면서, AI는 단순한 분석 도구에서 창의적인 도구로 진화했습니다.</a:t>
            </a:r>
            <a:endParaRPr lang="ko-KR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이는 AI가 일상생활과 여러 산업 전반에 더욱 깊이 통합될 수 있게 한 전환점이었습니다.</a:t>
            </a:r>
            <a:endParaRPr lang="ko-KR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974" y="961132"/>
            <a:ext cx="5019595" cy="50197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6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생성형 AI란?</a:t>
            </a:r>
            <a:endParaRPr lang="ko-KR" sz="3600" dirty="0"/>
          </a:p>
        </p:txBody>
      </p:sp>
      <p:sp>
        <p:nvSpPr>
          <p:cNvPr id="3" name="Text 1"/>
          <p:cNvSpPr/>
          <p:nvPr/>
        </p:nvSpPr>
        <p:spPr>
          <a:xfrm>
            <a:off x="661474" y="1147445"/>
            <a:ext cx="11478330" cy="53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생성형 AI는 기존 데이터에서 학습한 패턴을 바탕으로 텍스트, 이미지, 오디오, 비디오와 같은 새로운 콘텐츠를 만들어내는 인공지능 기술입니다. </a:t>
            </a:r>
            <a:endParaRPr lang="en-US" altLang="ko-KR" sz="1400" kern="0" spc="-15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이는 AI의 능력을 단순히 정보를 분석하거나 예측하는 수준을 넘어 "창작"의 영역으로 확장했습니다.</a:t>
            </a:r>
            <a:endParaRPr lang="ko-KR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1" y="1714329"/>
            <a:ext cx="3591430" cy="88780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3334" y="1799261"/>
            <a:ext cx="113404" cy="11340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4" y="1962308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학습 및 패턴 인식</a:t>
            </a:r>
            <a:endParaRPr lang="ko-KR" dirty="0"/>
          </a:p>
        </p:txBody>
      </p:sp>
      <p:sp>
        <p:nvSpPr>
          <p:cNvPr id="7" name="Text 3"/>
          <p:cNvSpPr/>
          <p:nvPr/>
        </p:nvSpPr>
        <p:spPr>
          <a:xfrm>
            <a:off x="661475" y="2357925"/>
            <a:ext cx="337712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방대한 양의 데이터를 학습함으로써 그 안에 숨겨진 복잡한 패턴과 구조를 이해하고, 새로운 데이터를 생성할 수 있는 기반을 마련합니다.</a:t>
            </a:r>
            <a:endParaRPr lang="ko-KR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2978" y="1714329"/>
            <a:ext cx="3591430" cy="88780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1991" y="1799261"/>
            <a:ext cx="113404" cy="11340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300131" y="1962308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새로운 콘텐츠 생성</a:t>
            </a:r>
            <a:endParaRPr lang="ko-KR" dirty="0"/>
          </a:p>
        </p:txBody>
      </p:sp>
      <p:sp>
        <p:nvSpPr>
          <p:cNvPr id="11" name="Text 5"/>
          <p:cNvSpPr/>
          <p:nvPr/>
        </p:nvSpPr>
        <p:spPr>
          <a:xfrm>
            <a:off x="4300133" y="2357925"/>
            <a:ext cx="337712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학습한 패턴을 바탕으로, 텍스트, 이미지, 음악, 심지어 코드까지 포함해 이전에는 존재하지 않았던 독창적인 결과물을 다양한 형태로 만들어냅니다.</a:t>
            </a:r>
            <a:endParaRPr lang="ko-KR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1636" y="1714329"/>
            <a:ext cx="3591430" cy="887809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70649" y="1799261"/>
            <a:ext cx="113404" cy="11340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938789" y="2010595"/>
            <a:ext cx="33771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폭넓은 활용 분야</a:t>
            </a:r>
            <a:endParaRPr lang="ko-KR" dirty="0"/>
          </a:p>
        </p:txBody>
      </p:sp>
      <p:sp>
        <p:nvSpPr>
          <p:cNvPr id="15" name="Text 7"/>
          <p:cNvSpPr/>
          <p:nvPr/>
        </p:nvSpPr>
        <p:spPr>
          <a:xfrm>
            <a:off x="7938790" y="2357925"/>
            <a:ext cx="337712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문서 작성, 이미지 생성, 음악 작곡부터 코딩 지원에 이르기까지 폭넓게 사용되며, 개인의 창의적 작업과 산업 전반의 혁신을 이끌고 있습니다.</a:t>
            </a:r>
            <a:endParaRPr lang="ko-KR" sz="14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7635" y="3429606"/>
            <a:ext cx="5129725" cy="30778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6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0220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향후 20년: 폭발적인 AI 성장과 새로운 도전</a:t>
            </a:r>
            <a:endParaRPr lang="ko-KR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89614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앞으로 20년은 AI 기술의 눈부신 발전과 사회 전반에 걸친 근본적인 변화를 가져올 것으로 예상됩니다.</a:t>
            </a:r>
            <a:endParaRPr lang="ko-KR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499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450" b="1" kern="0" spc="-10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인공지능 발전의 단계</a:t>
            </a:r>
            <a:endParaRPr lang="ko-KR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419423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ko-KR" alt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인공지능의 발전은 크게 세 단계로 나눌 수 있으며, 각 단계는 AI의 능력과 범위가 서로 다릅니다.</a:t>
            </a:r>
            <a:endParaRPr lang="ko-KR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80890"/>
            <a:ext cx="3484475" cy="21535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200525"/>
            <a:ext cx="348447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ko-KR" alt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오늘날 대부분의 AI가 여기에 속합니다.</a:t>
            </a:r>
            <a:endParaRPr lang="ko-KR" sz="1350" dirty="0"/>
          </a:p>
        </p:txBody>
      </p:sp>
      <p:sp>
        <p:nvSpPr>
          <p:cNvPr id="6" name="Text 3"/>
          <p:cNvSpPr/>
          <p:nvPr/>
        </p:nvSpPr>
        <p:spPr>
          <a:xfrm>
            <a:off x="661475" y="4574778"/>
            <a:ext cx="34844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좁은 인공지능</a:t>
            </a:r>
            <a:endParaRPr lang="ko-KR" sz="1700" dirty="0"/>
          </a:p>
        </p:txBody>
      </p:sp>
      <p:sp>
        <p:nvSpPr>
          <p:cNvPr id="7" name="Text 4"/>
          <p:cNvSpPr/>
          <p:nvPr/>
        </p:nvSpPr>
        <p:spPr>
          <a:xfrm>
            <a:off x="661475" y="4951313"/>
            <a:ext cx="3484475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ko-KR" alt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특정 작업을 수행하도록 설계된 AI입니다. 체스 프로그램, 음성 비서, 이미지 인식 시스템처럼 정의된 범위 안에서만 뛰어난 성능을 발휘합니다.</a:t>
            </a:r>
            <a:endParaRPr lang="ko-KR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3610" y="1880890"/>
            <a:ext cx="3484475" cy="21535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53610" y="4200525"/>
            <a:ext cx="348447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ko-KR" alt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아직은 이론적인 단계입니다.</a:t>
            </a:r>
            <a:endParaRPr lang="ko-KR" sz="1350" dirty="0"/>
          </a:p>
        </p:txBody>
      </p:sp>
      <p:sp>
        <p:nvSpPr>
          <p:cNvPr id="10" name="Text 6"/>
          <p:cNvSpPr/>
          <p:nvPr/>
        </p:nvSpPr>
        <p:spPr>
          <a:xfrm>
            <a:off x="4353610" y="4574778"/>
            <a:ext cx="34844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범용 인공지능(AGI)</a:t>
            </a:r>
            <a:endParaRPr lang="ko-KR" sz="1700" dirty="0"/>
          </a:p>
        </p:txBody>
      </p:sp>
      <p:sp>
        <p:nvSpPr>
          <p:cNvPr id="11" name="Text 7"/>
          <p:cNvSpPr/>
          <p:nvPr/>
        </p:nvSpPr>
        <p:spPr>
          <a:xfrm>
            <a:off x="4353610" y="4951313"/>
            <a:ext cx="3484475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ko-KR" alt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인간처럼 다양한 문제를 생각하고, 추론하고, 학습하고, 해결할 수 있는 일반 지능을 가진 AI입니다. 새로운 지식을 스스로 습득하고 적용할 수 있습니다.</a:t>
            </a:r>
            <a:endParaRPr lang="ko-KR" sz="13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745" y="1880890"/>
            <a:ext cx="3484475" cy="21535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5745" y="4200525"/>
            <a:ext cx="348447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ko-KR" alt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인간의 상상을 뛰어넘는 수준의 능력</a:t>
            </a:r>
            <a:endParaRPr lang="ko-KR" sz="1350" dirty="0"/>
          </a:p>
        </p:txBody>
      </p:sp>
      <p:sp>
        <p:nvSpPr>
          <p:cNvPr id="14" name="Text 9"/>
          <p:cNvSpPr/>
          <p:nvPr/>
        </p:nvSpPr>
        <p:spPr>
          <a:xfrm>
            <a:off x="8045745" y="4574778"/>
            <a:ext cx="348447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초지능</a:t>
            </a:r>
            <a:endParaRPr lang="ko-KR" sz="1700" dirty="0"/>
          </a:p>
        </p:txBody>
      </p:sp>
      <p:sp>
        <p:nvSpPr>
          <p:cNvPr id="15" name="Text 10"/>
          <p:cNvSpPr/>
          <p:nvPr/>
        </p:nvSpPr>
        <p:spPr>
          <a:xfrm>
            <a:off x="8045745" y="4951313"/>
            <a:ext cx="3484475" cy="137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ko-KR" alt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모든 인간의 지적 능력을 훨씬 능가하는 AI입니다. 과학적 발견과 예술적 창작처럼 인간의 범위를 넘어서는 복잡한 문제를 해결할 수 있으며, 스스로를 개선해 능력을 더욱 증폭시킬 수도 있습니다.</a:t>
            </a:r>
            <a:endParaRPr lang="ko-KR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888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300" b="1" kern="0" spc="-9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발전 단계 (Astechs 분류)</a:t>
            </a:r>
            <a:endParaRPr lang="ko-KR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60785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ko-KR" altLang="en-US" sz="14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연구자이자 작가인 Astechs는 인공지능을 능력과 인지 수준에 따라 네 가지 주요 발전 단계로 분류했습니다.</a:t>
            </a:r>
            <a:endParaRPr lang="ko-KR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84052"/>
            <a:ext cx="5359365" cy="232181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0106" y="1935460"/>
            <a:ext cx="202004" cy="2020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8795" y="2457351"/>
            <a:ext cx="498472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1단계: 반응형 AI</a:t>
            </a:r>
            <a:endParaRPr lang="ko-KR" sz="1650" dirty="0"/>
          </a:p>
        </p:txBody>
      </p:sp>
      <p:sp>
        <p:nvSpPr>
          <p:cNvPr id="7" name="Text 3"/>
          <p:cNvSpPr/>
          <p:nvPr/>
        </p:nvSpPr>
        <p:spPr>
          <a:xfrm>
            <a:off x="848795" y="2810272"/>
            <a:ext cx="4984725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spcAft>
                <a:spcPts val="700"/>
              </a:spcAft>
              <a:buNone/>
            </a:pPr>
            <a:r>
              <a:rPr lang="ko-KR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현재 주어진 데이터에 즉시 반응하며, 과거 경험을 기억하거나 미래를 예측하지 않습니다. 특정 작업에만 최적화되어 있습니다.</a:t>
            </a:r>
            <a:endParaRPr lang="ko-KR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ko-KR" alt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예시:</a:t>
            </a:r>
            <a:r>
              <a:rPr lang="ko-KR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IBM 딥 블루(체스), 스팸 메일 필터(초기 버전)</a:t>
            </a:r>
            <a:endParaRPr lang="ko-KR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0756" y="1784052"/>
            <a:ext cx="5359464" cy="2321818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49486" y="1935460"/>
            <a:ext cx="202004" cy="20200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58076" y="2457351"/>
            <a:ext cx="4984824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2단계: 제한된 기억 AI</a:t>
            </a:r>
            <a:endParaRPr lang="ko-KR" sz="1650" dirty="0"/>
          </a:p>
        </p:txBody>
      </p:sp>
      <p:sp>
        <p:nvSpPr>
          <p:cNvPr id="11" name="Text 5"/>
          <p:cNvSpPr/>
          <p:nvPr/>
        </p:nvSpPr>
        <p:spPr>
          <a:xfrm>
            <a:off x="6358076" y="2810272"/>
            <a:ext cx="4984824" cy="1108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spcAft>
                <a:spcPts val="700"/>
              </a:spcAft>
              <a:buNone/>
            </a:pPr>
            <a:r>
              <a:rPr lang="ko-KR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현재의 의사결정을 위해 단기적인 과거 데이터를 기억하고 활용합니다. 과거 정보를 학습에 사용하지만, 이것은 영구적인 기억은 아닙니다.</a:t>
            </a:r>
            <a:endParaRPr lang="ko-KR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ko-KR" alt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예시:</a:t>
            </a:r>
            <a:r>
              <a:rPr lang="ko-KR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자율주행 차량(주변 교통 흐름을 기억), 추천 시스템(최근 시청/구매 기록), GPT-4</a:t>
            </a:r>
            <a:endParaRPr lang="ko-KR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55790"/>
            <a:ext cx="5359365" cy="2067223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40106" y="4407198"/>
            <a:ext cx="202004" cy="20200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48795" y="4929088"/>
            <a:ext cx="498472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3단계: 마음 이론 AI</a:t>
            </a:r>
            <a:endParaRPr lang="ko-KR" sz="1650" dirty="0"/>
          </a:p>
        </p:txBody>
      </p:sp>
      <p:sp>
        <p:nvSpPr>
          <p:cNvPr id="15" name="Text 7"/>
          <p:cNvSpPr/>
          <p:nvPr/>
        </p:nvSpPr>
        <p:spPr>
          <a:xfrm>
            <a:off x="848795" y="5282009"/>
            <a:ext cx="4984725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spcAft>
                <a:spcPts val="700"/>
              </a:spcAft>
              <a:buNone/>
            </a:pPr>
            <a:r>
              <a:rPr lang="ko-KR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아직 이론적인 단계로, 인간의 감정, 믿음, 의도, 욕구를 이해하고 이를 바탕으로 상호작용할 수 있는 AI입니다. 사회적 지능을 갖추고 있습니다.</a:t>
            </a:r>
            <a:endParaRPr lang="ko-KR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ko-KR" alt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예시:</a:t>
            </a:r>
            <a:r>
              <a:rPr lang="ko-KR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(아직 상용화되지 않음) 고급 감정 인식 챗봇, 공감형 가상 비서</a:t>
            </a:r>
            <a:endParaRPr lang="ko-KR" sz="13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0756" y="4255790"/>
            <a:ext cx="5359464" cy="2067223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9486" y="4407198"/>
            <a:ext cx="202004" cy="202009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358076" y="4929088"/>
            <a:ext cx="4984824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4단계: 자의식 AI</a:t>
            </a:r>
            <a:endParaRPr lang="ko-KR" sz="1650" dirty="0"/>
          </a:p>
        </p:txBody>
      </p:sp>
      <p:sp>
        <p:nvSpPr>
          <p:cNvPr id="19" name="Text 9"/>
          <p:cNvSpPr/>
          <p:nvPr/>
        </p:nvSpPr>
        <p:spPr>
          <a:xfrm>
            <a:off x="6358076" y="5282009"/>
            <a:ext cx="4984824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spcAft>
                <a:spcPts val="700"/>
              </a:spcAft>
              <a:buNone/>
            </a:pPr>
            <a:r>
              <a:rPr lang="ko-KR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AI의 가장 높은 단계로, 의식, 자의식, 그리고 자기 존재에 대한 이해를 갖추고 있습니다. 인간 지능을 뛰어넘는 능력을 가질 수도 있습니다.</a:t>
            </a:r>
            <a:endParaRPr lang="ko-KR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ko-KR" alt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예시:</a:t>
            </a:r>
            <a:r>
              <a:rPr lang="ko-KR" alt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(과학 소설의 영역에서) 아이언맨의 JARVIS, 스타트렉의 Data</a:t>
            </a:r>
            <a:endParaRPr lang="ko-KR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1350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인공일반지능(AGI)으로의 진화</a:t>
            </a:r>
            <a:endParaRPr lang="ko-KR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787624"/>
            <a:ext cx="3053877" cy="22862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46845" y="192940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45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5447767" y="2543572"/>
            <a:ext cx="26250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현재: 약한 AI(협소 AI)</a:t>
            </a:r>
            <a:endParaRPr lang="ko-KR" sz="1850" dirty="0"/>
          </a:p>
        </p:txBody>
      </p:sp>
      <p:sp>
        <p:nvSpPr>
          <p:cNvPr id="7" name="Text 3"/>
          <p:cNvSpPr/>
          <p:nvPr/>
        </p:nvSpPr>
        <p:spPr>
          <a:xfrm>
            <a:off x="5447767" y="2952254"/>
            <a:ext cx="26250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특정 작업에 특화된 인공지능</a:t>
            </a:r>
            <a:endParaRPr lang="ko-KR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6244" y="1787624"/>
            <a:ext cx="3053976" cy="22862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889729" y="192940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45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8690651" y="2543572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미래: 인공일반지능(AGI)</a:t>
            </a:r>
            <a:endParaRPr lang="ko-KR" sz="1850" dirty="0"/>
          </a:p>
        </p:txBody>
      </p:sp>
      <p:sp>
        <p:nvSpPr>
          <p:cNvPr id="11" name="Text 6"/>
          <p:cNvSpPr/>
          <p:nvPr/>
        </p:nvSpPr>
        <p:spPr>
          <a:xfrm>
            <a:off x="8690651" y="2952254"/>
            <a:ext cx="2625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인간 수준 이상의 지능으로 폭넓은 인지 작업을 수행할 수 있는 인공지능</a:t>
            </a:r>
            <a:endParaRPr lang="ko-KR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262934"/>
            <a:ext cx="6296860" cy="16814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68337" y="440471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kern="0" spc="-45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5447767" y="5018881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AGI의 역량</a:t>
            </a:r>
            <a:endParaRPr lang="ko-KR" sz="1850" dirty="0"/>
          </a:p>
        </p:txBody>
      </p:sp>
      <p:sp>
        <p:nvSpPr>
          <p:cNvPr id="15" name="Text 9"/>
          <p:cNvSpPr/>
          <p:nvPr/>
        </p:nvSpPr>
        <p:spPr>
          <a:xfrm>
            <a:off x="5447767" y="5427563"/>
            <a:ext cx="586804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독립적으로 학습하고, 추론하며, 새로운 문제를 해결할 수 있음</a:t>
            </a:r>
            <a:endParaRPr lang="ko-KR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6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멀티모달 AI의 발전</a:t>
            </a:r>
            <a:endParaRPr lang="ko-KR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49120"/>
            <a:ext cx="4427546" cy="44276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954881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이전보다 더 정교한 상호작용</a:t>
            </a:r>
            <a:endParaRPr lang="ko-KR" dirty="0"/>
          </a:p>
        </p:txBody>
      </p:sp>
      <p:sp>
        <p:nvSpPr>
          <p:cNvPr id="5" name="Text 2"/>
          <p:cNvSpPr/>
          <p:nvPr/>
        </p:nvSpPr>
        <p:spPr>
          <a:xfrm>
            <a:off x="6221058" y="1419869"/>
            <a:ext cx="5315512" cy="154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2400" indent="-152400" algn="l">
              <a:lnSpc>
                <a:spcPct val="150000"/>
              </a:lnSpc>
              <a:buSzPct val="100000"/>
              <a:buChar char="•"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향상된 감정 이해</a:t>
            </a:r>
            <a:endParaRPr lang="ko-KR" sz="1400" dirty="0"/>
          </a:p>
          <a:p>
            <a:pPr marL="152400" indent="-152400" algn="l">
              <a:lnSpc>
                <a:spcPct val="150000"/>
              </a:lnSpc>
              <a:buSzPct val="100000"/>
              <a:buChar char="•"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복잡한 물리적 환경에 대한 인식</a:t>
            </a:r>
            <a:endParaRPr lang="ko-KR" sz="1400" dirty="0"/>
          </a:p>
          <a:p>
            <a:pPr marL="152400" indent="-152400" algn="l">
              <a:lnSpc>
                <a:spcPct val="150000"/>
              </a:lnSpc>
              <a:buSzPct val="100000"/>
              <a:buChar char="•"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다양한 정보의 실시간 통합</a:t>
            </a:r>
            <a:endParaRPr lang="ko-KR" sz="1400" dirty="0"/>
          </a:p>
          <a:p>
            <a:pPr marL="152400" indent="-152400" algn="l">
              <a:lnSpc>
                <a:spcPct val="150000"/>
              </a:lnSpc>
              <a:buSzPct val="100000"/>
              <a:buChar char="•"/>
            </a:pPr>
            <a:r>
              <a:rPr lang="ko-KR" alt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자연스러운 멀티모달 커뮤니케이션</a:t>
            </a:r>
            <a:endParaRPr lang="ko-KR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6738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00" b="1" kern="0" spc="-9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로봇공학과의 융합 가속화</a:t>
            </a:r>
            <a:endParaRPr lang="ko-KR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233785"/>
            <a:ext cx="383868" cy="3838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33360" y="1773634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가정용 로봇</a:t>
            </a:r>
            <a:endParaRPr lang="ko-KR" sz="1500" dirty="0"/>
          </a:p>
        </p:txBody>
      </p:sp>
      <p:sp>
        <p:nvSpPr>
          <p:cNvPr id="6" name="Text 2"/>
          <p:cNvSpPr/>
          <p:nvPr/>
        </p:nvSpPr>
        <p:spPr>
          <a:xfrm>
            <a:off x="5233360" y="2088356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일상적인 집안일을 돕는 지능형 로봇</a:t>
            </a:r>
            <a:endParaRPr lang="ko-KR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560538"/>
            <a:ext cx="383868" cy="3838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33360" y="3100388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돌봄 로봇</a:t>
            </a:r>
            <a:endParaRPr lang="ko-KR" sz="1500" dirty="0"/>
          </a:p>
        </p:txBody>
      </p:sp>
      <p:sp>
        <p:nvSpPr>
          <p:cNvPr id="9" name="Text 4"/>
          <p:cNvSpPr/>
          <p:nvPr/>
        </p:nvSpPr>
        <p:spPr>
          <a:xfrm>
            <a:off x="5233360" y="3415109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고령자와 환자에게 돌봄 서비스를 제공</a:t>
            </a:r>
            <a:endParaRPr lang="ko-KR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3887291"/>
            <a:ext cx="383868" cy="38387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33360" y="4427141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배달 로봇</a:t>
            </a:r>
            <a:endParaRPr lang="ko-KR" sz="1500" dirty="0"/>
          </a:p>
        </p:txBody>
      </p:sp>
      <p:sp>
        <p:nvSpPr>
          <p:cNvPr id="12" name="Text 6"/>
          <p:cNvSpPr/>
          <p:nvPr/>
        </p:nvSpPr>
        <p:spPr>
          <a:xfrm>
            <a:off x="5233360" y="4741863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자율주행 기술을 통한 물류 혁신</a:t>
            </a:r>
            <a:endParaRPr lang="ko-KR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214045"/>
            <a:ext cx="383868" cy="38387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33360" y="5753894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의료 로봇</a:t>
            </a:r>
            <a:endParaRPr lang="ko-KR" sz="1500" dirty="0"/>
          </a:p>
        </p:txBody>
      </p:sp>
      <p:sp>
        <p:nvSpPr>
          <p:cNvPr id="15" name="Text 8"/>
          <p:cNvSpPr/>
          <p:nvPr/>
        </p:nvSpPr>
        <p:spPr>
          <a:xfrm>
            <a:off x="5233360" y="6068616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ko-KR" alt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정밀 수술과 진단을 지원하는 의료 로봇</a:t>
            </a:r>
            <a:endParaRPr lang="ko-KR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2380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의료와 과학의 혁신</a:t>
            </a:r>
            <a:endParaRPr lang="ko-KR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597918"/>
            <a:ext cx="945035" cy="11340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95517" y="1786930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신약 개발</a:t>
            </a:r>
            <a:endParaRPr lang="ko-KR" sz="1850" dirty="0"/>
          </a:p>
        </p:txBody>
      </p:sp>
      <p:sp>
        <p:nvSpPr>
          <p:cNvPr id="6" name="Text 2"/>
          <p:cNvSpPr/>
          <p:nvPr/>
        </p:nvSpPr>
        <p:spPr>
          <a:xfrm>
            <a:off x="1795517" y="2195612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기반의 신약 후보 발굴 및 임상 시험 최적화</a:t>
            </a:r>
            <a:endParaRPr lang="ko-KR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2731988"/>
            <a:ext cx="945035" cy="11340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95517" y="2921000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질병 진단 및 치료</a:t>
            </a:r>
            <a:endParaRPr lang="ko-KR" sz="1850" dirty="0"/>
          </a:p>
        </p:txBody>
      </p:sp>
      <p:sp>
        <p:nvSpPr>
          <p:cNvPr id="9" name="Text 4"/>
          <p:cNvSpPr/>
          <p:nvPr/>
        </p:nvSpPr>
        <p:spPr>
          <a:xfrm>
            <a:off x="1795517" y="3329682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정확한 진단과 개인 맞춤형 치료 방법 개발</a:t>
            </a:r>
            <a:endParaRPr lang="ko-KR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866059"/>
            <a:ext cx="945035" cy="11340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95517" y="4055070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개인 맞춤 의학</a:t>
            </a:r>
            <a:endParaRPr lang="ko-KR" sz="1850" dirty="0"/>
          </a:p>
        </p:txBody>
      </p:sp>
      <p:sp>
        <p:nvSpPr>
          <p:cNvPr id="12" name="Text 6"/>
          <p:cNvSpPr/>
          <p:nvPr/>
        </p:nvSpPr>
        <p:spPr>
          <a:xfrm>
            <a:off x="1795517" y="4463752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개인별 유전체 분석을 기반으로 한 맞춤형 의료 서비스</a:t>
            </a:r>
            <a:endParaRPr lang="ko-KR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5000129"/>
            <a:ext cx="945035" cy="113407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95517" y="5189141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과학 연구</a:t>
            </a:r>
            <a:endParaRPr lang="ko-KR" sz="1850" dirty="0"/>
          </a:p>
        </p:txBody>
      </p:sp>
      <p:sp>
        <p:nvSpPr>
          <p:cNvPr id="15" name="Text 8"/>
          <p:cNvSpPr/>
          <p:nvPr/>
        </p:nvSpPr>
        <p:spPr>
          <a:xfrm>
            <a:off x="1795517" y="5597823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기후 변화 예측, 신소재 개발, 우주 탐사 등 복잡한 데이터 분석</a:t>
            </a:r>
            <a:endParaRPr lang="ko-KR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6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1496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경제 및 사회 구조의 변화</a:t>
            </a:r>
            <a:endParaRPr lang="ko-KR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4023816"/>
            <a:ext cx="3496877" cy="2047180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75881" y="423822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일자리 변화</a:t>
            </a:r>
            <a:endParaRPr lang="ko-KR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4646910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단순 반복 작업은 AI와 로봇으로 대체될 가능성이 높으며, 이는 새로운 유형의 일자리를 만들고 기존 직업의 역할을 재정의할 것입니다.</a:t>
            </a:r>
            <a:endParaRPr lang="ko-KR" sz="1450" dirty="0"/>
          </a:p>
        </p:txBody>
      </p:sp>
      <p:sp>
        <p:nvSpPr>
          <p:cNvPr id="7" name="Shape 4"/>
          <p:cNvSpPr/>
          <p:nvPr/>
        </p:nvSpPr>
        <p:spPr>
          <a:xfrm>
            <a:off x="4347359" y="4023816"/>
            <a:ext cx="3496877" cy="2047180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61766" y="423822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생산성 향상</a:t>
            </a:r>
            <a:endParaRPr lang="ko-KR" sz="1850" dirty="0"/>
          </a:p>
        </p:txBody>
      </p:sp>
      <p:sp>
        <p:nvSpPr>
          <p:cNvPr id="9" name="Text 6"/>
          <p:cNvSpPr/>
          <p:nvPr/>
        </p:nvSpPr>
        <p:spPr>
          <a:xfrm>
            <a:off x="4561766" y="4646910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AI는 기업 생산성을 크게 향상시키고, 새로운 비즈니스 모델을 창출하며, 경제 성장을 이끌 것입니다.</a:t>
            </a:r>
            <a:endParaRPr lang="ko-KR" sz="1450" dirty="0"/>
          </a:p>
        </p:txBody>
      </p:sp>
      <p:sp>
        <p:nvSpPr>
          <p:cNvPr id="10" name="Shape 7"/>
          <p:cNvSpPr/>
          <p:nvPr/>
        </p:nvSpPr>
        <p:spPr>
          <a:xfrm>
            <a:off x="8033244" y="4023816"/>
            <a:ext cx="3496877" cy="2047180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47650" y="4238228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개인화된 서비스</a:t>
            </a:r>
            <a:endParaRPr lang="ko-KR" sz="1850" dirty="0"/>
          </a:p>
        </p:txBody>
      </p:sp>
      <p:sp>
        <p:nvSpPr>
          <p:cNvPr id="12" name="Text 9"/>
          <p:cNvSpPr/>
          <p:nvPr/>
        </p:nvSpPr>
        <p:spPr>
          <a:xfrm>
            <a:off x="8247650" y="4646910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교육, 쇼핑, 엔터테인먼트를 포함한 모든 분야에서 각 개인의 필요와 선호에 완벽하게 맞춘 서비스가 제공될 것입니다.</a:t>
            </a:r>
            <a:endParaRPr lang="ko-KR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6068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시대의 새로운 과제와 변화</a:t>
            </a:r>
            <a:endParaRPr lang="ko-KR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423815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윤리 및 규제 문제</a:t>
            </a:r>
            <a:endParaRPr lang="ko-KR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908102"/>
            <a:ext cx="2917851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프라이버시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알고리즘 편향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책임성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AI의 통제 가능성</a:t>
            </a:r>
            <a:endParaRPr lang="ko-KR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4486077"/>
            <a:ext cx="291785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사회적 합의와 적절한 규제 프레임워크의 중요성은 점점 더 커질 것입니다.</a:t>
            </a:r>
            <a:endParaRPr lang="ko-KR" sz="1450" dirty="0"/>
          </a:p>
        </p:txBody>
      </p:sp>
      <p:sp>
        <p:nvSpPr>
          <p:cNvPr id="7" name="Text 4"/>
          <p:cNvSpPr/>
          <p:nvPr/>
        </p:nvSpPr>
        <p:spPr>
          <a:xfrm>
            <a:off x="4046833" y="2423815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교육 시스템의 변화</a:t>
            </a:r>
            <a:endParaRPr lang="ko-KR" sz="1850" dirty="0"/>
          </a:p>
        </p:txBody>
      </p:sp>
      <p:sp>
        <p:nvSpPr>
          <p:cNvPr id="8" name="Text 5"/>
          <p:cNvSpPr/>
          <p:nvPr/>
        </p:nvSpPr>
        <p:spPr>
          <a:xfrm>
            <a:off x="4046833" y="2908102"/>
            <a:ext cx="2917851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맞춤형 학습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생성 교육 콘텐츠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 진도 추적 및 피드백</a:t>
            </a:r>
            <a:endParaRPr lang="ko-KR" sz="1450" dirty="0"/>
          </a:p>
        </p:txBody>
      </p:sp>
      <p:sp>
        <p:nvSpPr>
          <p:cNvPr id="9" name="Text 6"/>
          <p:cNvSpPr/>
          <p:nvPr/>
        </p:nvSpPr>
        <p:spPr>
          <a:xfrm>
            <a:off x="4046833" y="4117578"/>
            <a:ext cx="291785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교사는 AI를 활용해 더 효과적인 교육을 제공하고, 학생들이 비판적 사고와 문제 해결 능력을 기를 수 있도록 돕는 데 집중할 것입니다.</a:t>
            </a:r>
            <a:endParaRPr lang="ko-KR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6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인간과 AI의 공존: 미래를 향한 여정</a:t>
            </a:r>
            <a:endParaRPr lang="ko-KR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68120"/>
            <a:ext cx="4208552" cy="42086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62445" y="1965821"/>
            <a:ext cx="5315512" cy="401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ko-KR" altLang="en-US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AI는 도구로서 인간의 역량을 확장하고, 복잡한 문제를 해결하며, 삶의 질 향상에 기여할 것입니다.</a:t>
            </a:r>
            <a:endParaRPr lang="ko-KR" dirty="0"/>
          </a:p>
          <a:p>
            <a:pPr marL="285750" indent="-285750" algn="l">
              <a:lnSpc>
                <a:spcPct val="150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ko-KR" altLang="en-US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가장 중요한 것은 AI가 어떻게 개발되고 사용되는지에 대한 인간의 책임과 통제입니다.</a:t>
            </a:r>
            <a:endParaRPr lang="ko-KR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결론적으로, 향후 20년 동안 AI는 우리 사회의 거의 모든 측면을 변화시킬 것입니다. </a:t>
            </a:r>
            <a:endParaRPr lang="en-US" altLang="ko-KR" kern="0" spc="-15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이러한 변화는 엄청난 기회를 가져오겠지만, 동시에 깊은 성찰과 신중한 접근이 필요한 심각한 질문과 과제도 제기할 것입니다.</a:t>
            </a:r>
            <a:endParaRPr lang="ko-K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1844</Words>
  <Application>Microsoft Office PowerPoint</Application>
  <PresentationFormat>Widescreen</PresentationFormat>
  <Paragraphs>210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Inter Bold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Oh-Gyu Kwon</cp:lastModifiedBy>
  <cp:revision>1</cp:revision>
  <dcterms:created xsi:type="dcterms:W3CDTF">2026-09-03T09:35:08Z</dcterms:created>
  <dcterms:modified xsi:type="dcterms:W3CDTF">2026-09-03T10:18:19Z</dcterms:modified>
</cp:coreProperties>
</file>